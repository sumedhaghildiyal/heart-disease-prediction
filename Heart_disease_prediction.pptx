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istic, curved, white structure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curved, white, layered pattern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lose-up of the edge of white curved stone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a curved, white, layered pattern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a layered pattern of grey stone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hite ribbed pattern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ngular, futuristic, white corridor with shadow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umedha Ghildiyal"/>
          <p:cNvSpPr txBox="1"/>
          <p:nvPr>
            <p:ph type="body" idx="21"/>
          </p:nvPr>
        </p:nvSpPr>
        <p:spPr>
          <a:xfrm>
            <a:off x="1206500" y="11983423"/>
            <a:ext cx="21971000" cy="660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Sumedha Ghildiyal</a:t>
            </a:r>
          </a:p>
        </p:txBody>
      </p:sp>
      <p:sp>
        <p:nvSpPr>
          <p:cNvPr id="172" name="predict whether a patient is at risk of heart disease"/>
          <p:cNvSpPr txBox="1"/>
          <p:nvPr>
            <p:ph type="subTitle" sz="quarter" idx="1"/>
          </p:nvPr>
        </p:nvSpPr>
        <p:spPr>
          <a:xfrm>
            <a:off x="3040750" y="7349191"/>
            <a:ext cx="21971001" cy="2006601"/>
          </a:xfrm>
          <a:prstGeom prst="rect">
            <a:avLst/>
          </a:prstGeom>
        </p:spPr>
        <p:txBody>
          <a:bodyPr/>
          <a:lstStyle/>
          <a:p>
            <a:pPr/>
            <a:r>
              <a:t>predict whether a patient is at risk of heart disease</a:t>
            </a:r>
          </a:p>
        </p:txBody>
      </p:sp>
      <p:sp>
        <p:nvSpPr>
          <p:cNvPr id="173" name="Heart Disease Prediction Hackathon"/>
          <p:cNvSpPr txBox="1"/>
          <p:nvPr>
            <p:ph type="ctrTitle"/>
          </p:nvPr>
        </p:nvSpPr>
        <p:spPr>
          <a:xfrm>
            <a:off x="892420" y="2614002"/>
            <a:ext cx="21971004" cy="4648201"/>
          </a:xfrm>
          <a:prstGeom prst="rect">
            <a:avLst/>
          </a:prstGeom>
        </p:spPr>
        <p:txBody>
          <a:bodyPr/>
          <a:lstStyle>
            <a:lvl1pPr defTabSz="312927">
              <a:defRPr spc="-105" sz="10560"/>
            </a:lvl1pPr>
          </a:lstStyle>
          <a:p>
            <a:pPr/>
            <a:r>
              <a:t>Heart Disease Prediction Hackathon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Dataset overview"/>
          <p:cNvSpPr txBox="1"/>
          <p:nvPr>
            <p:ph type="title"/>
          </p:nvPr>
        </p:nvSpPr>
        <p:spPr>
          <a:xfrm>
            <a:off x="835314" y="635355"/>
            <a:ext cx="10615952" cy="1689101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Dataset overview</a:t>
            </a:r>
          </a:p>
        </p:txBody>
      </p:sp>
      <p:sp>
        <p:nvSpPr>
          <p:cNvPr id="176" name="Source: train.csv and test.csv (provided for project)…"/>
          <p:cNvSpPr txBox="1"/>
          <p:nvPr/>
        </p:nvSpPr>
        <p:spPr>
          <a:xfrm>
            <a:off x="781950" y="2819626"/>
            <a:ext cx="21450849" cy="383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spcBef>
                <a:spcPts val="0"/>
              </a:spcBef>
              <a:defRPr sz="3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1" u="sng"/>
              <a:t>Source</a:t>
            </a:r>
            <a:r>
              <a:rPr b="1"/>
              <a:t>:</a:t>
            </a:r>
            <a:r>
              <a:t> train.csv and test.csv (provided for project)</a:t>
            </a:r>
          </a:p>
          <a:p>
            <a:pPr>
              <a:spcBef>
                <a:spcPts val="0"/>
              </a:spcBef>
              <a:defRPr b="1" sz="3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0" u="sng"/>
              <a:t>	</a:t>
            </a:r>
            <a:r>
              <a:rPr u="sng"/>
              <a:t>Size</a:t>
            </a:r>
            <a:r>
              <a:t>:</a:t>
            </a:r>
            <a:endParaRPr b="0"/>
          </a:p>
          <a:p>
            <a:pPr>
              <a:spcBef>
                <a:spcPts val="0"/>
              </a:spcBef>
              <a:defRPr sz="3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   Training dataset: Contains features + target label(Heart_Disease)</a:t>
            </a:r>
          </a:p>
          <a:p>
            <a:pPr>
              <a:spcBef>
                <a:spcPts val="0"/>
              </a:spcBef>
              <a:defRPr sz="3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   Test dataset: Contains same features (without target)</a:t>
            </a:r>
          </a:p>
          <a:p>
            <a:pPr>
              <a:spcBef>
                <a:spcPts val="0"/>
              </a:spcBef>
              <a:defRPr sz="3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u="sng"/>
              <a:t>	</a:t>
            </a:r>
            <a:r>
              <a:rPr b="1" u="sng"/>
              <a:t>Data Type</a:t>
            </a:r>
            <a:r>
              <a:rPr b="1"/>
              <a:t>:</a:t>
            </a:r>
            <a:r>
              <a:t> Mixed data-both </a:t>
            </a:r>
            <a:r>
              <a:rPr b="1"/>
              <a:t>categorical</a:t>
            </a:r>
            <a:r>
              <a:t> and </a:t>
            </a:r>
            <a:r>
              <a:rPr b="1"/>
              <a:t>numerical</a:t>
            </a:r>
            <a:r>
              <a:t>  columns</a:t>
            </a:r>
          </a:p>
          <a:p>
            <a:pPr marL="279400">
              <a:spcBef>
                <a:spcPts val="0"/>
              </a:spcBef>
              <a:defRPr b="1" sz="35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0"/>
              <a:t>	•	Used for a </a:t>
            </a:r>
            <a:r>
              <a:t>binary classification</a:t>
            </a:r>
            <a:r>
              <a:rPr b="0"/>
              <a:t> task</a:t>
            </a:r>
            <a:endParaRPr b="0"/>
          </a:p>
        </p:txBody>
      </p:sp>
      <p:sp>
        <p:nvSpPr>
          <p:cNvPr id="177" name="Objective"/>
          <p:cNvSpPr txBox="1"/>
          <p:nvPr/>
        </p:nvSpPr>
        <p:spPr>
          <a:xfrm>
            <a:off x="835314" y="7150451"/>
            <a:ext cx="10615952" cy="168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2316479">
              <a:lnSpc>
                <a:spcPct val="90000"/>
              </a:lnSpc>
              <a:spcBef>
                <a:spcPts val="0"/>
              </a:spcBef>
              <a:defRPr spc="-95" sz="9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Objective</a:t>
            </a:r>
          </a:p>
        </p:txBody>
      </p:sp>
      <p:sp>
        <p:nvSpPr>
          <p:cNvPr id="178" name="To build an accurate machine-learning model that predicts the target variable (0/1) based on patient related features."/>
          <p:cNvSpPr txBox="1"/>
          <p:nvPr/>
        </p:nvSpPr>
        <p:spPr>
          <a:xfrm>
            <a:off x="973868" y="8827878"/>
            <a:ext cx="22436265" cy="517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sz="2500">
                <a:latin typeface="+mn-lt"/>
                <a:ea typeface="+mn-ea"/>
                <a:cs typeface="+mn-cs"/>
                <a:sym typeface="Produkt Extralight"/>
              </a:defRPr>
            </a:pPr>
            <a:r>
              <a:t>To </a:t>
            </a:r>
            <a:r>
              <a:t>build an accurate machine-learning model</a:t>
            </a:r>
            <a:r>
              <a:t> that predicts the </a:t>
            </a:r>
            <a:r>
              <a:t>target variable (0/1)</a:t>
            </a:r>
            <a:r>
              <a:t> based on patient related features.</a:t>
            </a:r>
          </a:p>
        </p:txBody>
      </p:sp>
      <p:sp>
        <p:nvSpPr>
          <p:cNvPr id="179" name="The Goal is to:…"/>
          <p:cNvSpPr txBox="1"/>
          <p:nvPr/>
        </p:nvSpPr>
        <p:spPr>
          <a:xfrm>
            <a:off x="1281765" y="9785467"/>
            <a:ext cx="11624184" cy="237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spcBef>
                <a:spcPts val="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The Goal is to:</a:t>
            </a:r>
          </a:p>
          <a:p>
            <a:pPr>
              <a:spcBef>
                <a:spcPts val="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Understand data patterns</a:t>
            </a:r>
          </a:p>
          <a:p>
            <a:pPr>
              <a:spcBef>
                <a:spcPts val="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Clean and preprocess the dataset</a:t>
            </a:r>
          </a:p>
          <a:p>
            <a:pPr>
              <a:spcBef>
                <a:spcPts val="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Train different ML models (Logistic Regression, Random Forest)</a:t>
            </a:r>
          </a:p>
          <a:p>
            <a:pPr>
              <a:spcBef>
                <a:spcPts val="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Identify the best-performing model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Key Insights from EDA:"/>
          <p:cNvSpPr txBox="1"/>
          <p:nvPr>
            <p:ph type="body" idx="21"/>
          </p:nvPr>
        </p:nvSpPr>
        <p:spPr>
          <a:xfrm>
            <a:off x="1206500" y="2784652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Key Insights from EDA:</a:t>
            </a:r>
          </a:p>
        </p:txBody>
      </p:sp>
      <p:sp>
        <p:nvSpPr>
          <p:cNvPr id="182" name="Data Understanding &amp; Clea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Data Understanding &amp; Cleaning</a:t>
            </a:r>
          </a:p>
        </p:txBody>
      </p:sp>
      <p:sp>
        <p:nvSpPr>
          <p:cNvPr id="183" name="• Dataset contains both categorical and numerical columns…"/>
          <p:cNvSpPr txBox="1"/>
          <p:nvPr>
            <p:ph type="body" sz="quarter" idx="1"/>
          </p:nvPr>
        </p:nvSpPr>
        <p:spPr>
          <a:xfrm>
            <a:off x="1206500" y="4248504"/>
            <a:ext cx="16454643" cy="2454796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SzTx/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Dataset contains both </a:t>
            </a:r>
            <a:r>
              <a:rPr b="1"/>
              <a:t>categorical</a:t>
            </a:r>
            <a:r>
              <a:t> and </a:t>
            </a:r>
            <a:r>
              <a:rPr b="1"/>
              <a:t>numerical</a:t>
            </a:r>
            <a:r>
              <a:t> columns</a:t>
            </a:r>
          </a:p>
          <a:p>
            <a:pPr marL="0" indent="0">
              <a:spcBef>
                <a:spcPts val="0"/>
              </a:spcBef>
              <a:buSzTx/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Categorical columns need conversion to numeric form</a:t>
            </a:r>
          </a:p>
          <a:p>
            <a:pPr marL="0" indent="0">
              <a:spcBef>
                <a:spcPts val="0"/>
              </a:spcBef>
              <a:buSzTx/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Different columns have different value ranges , </a:t>
            </a:r>
            <a:r>
              <a:rPr b="1"/>
              <a:t>scaling is needed</a:t>
            </a:r>
          </a:p>
          <a:p>
            <a:pPr marL="279400" indent="0">
              <a:spcBef>
                <a:spcPts val="0"/>
              </a:spcBef>
              <a:buSzTx/>
              <a:buNone/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No major outliers affecting model performance </a:t>
            </a:r>
          </a:p>
        </p:txBody>
      </p:sp>
      <p:sp>
        <p:nvSpPr>
          <p:cNvPr id="184" name="Data Preprocessing Steps:"/>
          <p:cNvSpPr txBox="1"/>
          <p:nvPr/>
        </p:nvSpPr>
        <p:spPr>
          <a:xfrm>
            <a:off x="1300999" y="6639019"/>
            <a:ext cx="8438325" cy="1009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Data Preprocessing Steps:</a:t>
            </a:r>
          </a:p>
        </p:txBody>
      </p:sp>
      <p:sp>
        <p:nvSpPr>
          <p:cNvPr id="185" name="Label Encoding:…"/>
          <p:cNvSpPr txBox="1"/>
          <p:nvPr/>
        </p:nvSpPr>
        <p:spPr>
          <a:xfrm>
            <a:off x="1305073" y="8023744"/>
            <a:ext cx="21398026" cy="4739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spcBef>
                <a:spcPts val="0"/>
              </a:spcBef>
              <a:defRPr b="1"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Label Encoding:</a:t>
            </a:r>
            <a:endParaRPr b="0"/>
          </a:p>
          <a:p>
            <a:pPr>
              <a:spcBef>
                <a:spcPts val="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All categorical columns were </a:t>
            </a:r>
            <a:r>
              <a:rPr b="1"/>
              <a:t>label encoded</a:t>
            </a:r>
            <a:r>
              <a:t> so ML models can read them.</a:t>
            </a:r>
          </a:p>
          <a:p>
            <a:pPr>
              <a:spcBef>
                <a:spcPts val="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Saved encoders and applied the </a:t>
            </a:r>
            <a:r>
              <a:rPr b="1"/>
              <a:t>same encoding</a:t>
            </a:r>
            <a:r>
              <a:t> on test data.</a:t>
            </a:r>
          </a:p>
          <a:p>
            <a:pPr>
              <a:spcBef>
                <a:spcPts val="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0"/>
              </a:spcBef>
              <a:defRPr b="1"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Feature Scaling:</a:t>
            </a:r>
            <a:endParaRPr b="0"/>
          </a:p>
          <a:p>
            <a:pPr>
              <a:spcBef>
                <a:spcPts val="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Used StandardScaler to scale training and test datasets for models like Logistic Regression and  Random Forest.</a:t>
            </a:r>
          </a:p>
          <a:p>
            <a:pPr>
              <a:spcBef>
                <a:spcPts val="0"/>
              </a:spcBef>
              <a:defRPr sz="300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0"/>
              </a:spcBef>
              <a:defRPr b="1"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Train–Test Split:</a:t>
            </a:r>
            <a:endParaRPr b="0"/>
          </a:p>
          <a:p>
            <a:pPr>
              <a:spcBef>
                <a:spcPts val="0"/>
              </a:spcBef>
              <a:defRPr b="1" sz="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0"/>
              <a:t>Split data into </a:t>
            </a:r>
            <a:r>
              <a:t>X_train, X_test, y_train, y_test</a:t>
            </a:r>
            <a:r>
              <a:rPr b="0"/>
              <a:t> to evaluate model.</a:t>
            </a:r>
            <a:endParaRPr b="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Overall work flow"/>
          <p:cNvSpPr txBox="1"/>
          <p:nvPr>
            <p:ph type="body" idx="21"/>
          </p:nvPr>
        </p:nvSpPr>
        <p:spPr>
          <a:xfrm>
            <a:off x="1206500" y="2570333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Overall work flow</a:t>
            </a:r>
          </a:p>
        </p:txBody>
      </p:sp>
      <p:sp>
        <p:nvSpPr>
          <p:cNvPr id="188" name="Approach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Approach</a:t>
            </a:r>
          </a:p>
        </p:txBody>
      </p:sp>
      <p:sp>
        <p:nvSpPr>
          <p:cNvPr id="189" name="Load train.csv and test.csv : training dataset had 14 columns 820 row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2400">
                <a:solidFill>
                  <a:srgbClr val="000000"/>
                </a:solidFill>
              </a:defRPr>
            </a:pPr>
            <a:r>
              <a:t>Load train.csv and test.csv : training dataset had 14 columns 820 rows.</a:t>
            </a:r>
          </a:p>
          <a:p>
            <a:pPr marL="438911" indent="-438911" defTabSz="341375">
              <a:spcBef>
                <a:spcPts val="4500"/>
              </a:spcBef>
              <a:defRPr sz="2400">
                <a:solidFill>
                  <a:srgbClr val="000000"/>
                </a:solidFill>
              </a:defRPr>
            </a:pPr>
            <a:r>
              <a:t> Identify categorical and numerical columns: 2 categorical columns i.e Gender  and chest_pain_type</a:t>
            </a:r>
          </a:p>
          <a:p>
            <a:pPr marL="438911" indent="-438911" defTabSz="341375">
              <a:spcBef>
                <a:spcPts val="4500"/>
              </a:spcBef>
              <a:defRPr sz="2400">
                <a:solidFill>
                  <a:srgbClr val="000000"/>
                </a:solidFill>
              </a:defRPr>
            </a:pPr>
            <a:r>
              <a:t>Handle missing values: there were no missing values in the dataset</a:t>
            </a:r>
          </a:p>
          <a:p>
            <a:pPr marL="438911" indent="-438911" defTabSz="341375">
              <a:spcBef>
                <a:spcPts val="4500"/>
              </a:spcBef>
              <a:defRPr sz="2400">
                <a:solidFill>
                  <a:srgbClr val="000000"/>
                </a:solidFill>
              </a:defRPr>
            </a:pPr>
            <a:r>
              <a:t>Apply Label Encoding on categorical features to convert categorical data into a numerical format(0,1,2…)</a:t>
            </a:r>
          </a:p>
          <a:p>
            <a:pPr marL="438911" indent="-438911" defTabSz="341375">
              <a:spcBef>
                <a:spcPts val="4500"/>
              </a:spcBef>
              <a:defRPr sz="2400">
                <a:solidFill>
                  <a:srgbClr val="000000"/>
                </a:solidFill>
              </a:defRPr>
            </a:pPr>
            <a:r>
              <a:t>Apply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Scaling</a:t>
            </a:r>
            <a:r>
              <a:t> to numerical features: Used standard scalar</a:t>
            </a:r>
          </a:p>
          <a:p>
            <a:pPr marL="438911" indent="-438911" defTabSz="341375">
              <a:spcBef>
                <a:spcPts val="4500"/>
              </a:spcBef>
              <a:defRPr sz="2400">
                <a:solidFill>
                  <a:srgbClr val="000000"/>
                </a:solidFill>
              </a:defRPr>
            </a:pPr>
            <a:r>
              <a:t>Split data into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 train–test</a:t>
            </a:r>
            <a:r>
              <a:t>  sets so the model could learn on one part and be tested on another.</a:t>
            </a:r>
            <a:endParaRPr b="1">
              <a:latin typeface="Graphik"/>
              <a:ea typeface="Graphik"/>
              <a:cs typeface="Graphik"/>
              <a:sym typeface="Graphik"/>
            </a:endParaRPr>
          </a:p>
          <a:p>
            <a:pPr marL="438911" indent="-438911" defTabSz="341375">
              <a:spcBef>
                <a:spcPts val="4500"/>
              </a:spcBef>
              <a:defRPr sz="2400">
                <a:solidFill>
                  <a:srgbClr val="000000"/>
                </a:solidFill>
              </a:defRPr>
            </a:pPr>
            <a:r>
              <a:t>Train models :we used two models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Logistic Regression</a:t>
            </a:r>
            <a:r>
              <a:t> as a simple baseline model, and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Random Forest</a:t>
            </a:r>
            <a:r>
              <a:t> for better accuracy and feature importance.</a:t>
            </a:r>
          </a:p>
          <a:p>
            <a:pPr marL="438911" indent="-438911" defTabSz="341375">
              <a:spcBef>
                <a:spcPts val="4500"/>
              </a:spcBef>
              <a:defRPr sz="2400">
                <a:solidFill>
                  <a:srgbClr val="000000"/>
                </a:solidFill>
              </a:defRPr>
            </a:pPr>
            <a:r>
              <a:t>The models were trained on the processed training data and then tested on the test data to measure how well they performed</a:t>
            </a:r>
          </a:p>
          <a:p>
            <a:pPr marL="438911" indent="-438911" defTabSz="341375">
              <a:spcBef>
                <a:spcPts val="4500"/>
              </a:spcBef>
              <a:defRPr sz="2400">
                <a:solidFill>
                  <a:srgbClr val="000000"/>
                </a:solidFill>
              </a:defRPr>
            </a:pPr>
            <a:r>
              <a:t>Evaluated the results using accuracy, classification report, and ROC-AUC score to understand the model’s effectiveness.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Model Performance Summary: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Model Performance Summary:</a:t>
            </a:r>
          </a:p>
        </p:txBody>
      </p:sp>
      <p:sp>
        <p:nvSpPr>
          <p:cNvPr id="192" name="Results and Insigh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Results and Insights</a:t>
            </a:r>
          </a:p>
        </p:txBody>
      </p:sp>
      <p:sp>
        <p:nvSpPr>
          <p:cNvPr id="193" name="We tested two machine learning models: Random Forest and Logistic Regression to predict heart diseas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We tested two machine learning models: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Random Forest</a:t>
            </a:r>
            <a:r>
              <a:t> and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Logistic Regression</a:t>
            </a:r>
            <a:r>
              <a:t> to predict heart disease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rPr b="1">
                <a:latin typeface="Graphik"/>
                <a:ea typeface="Graphik"/>
                <a:cs typeface="Graphik"/>
                <a:sym typeface="Graphik"/>
              </a:rPr>
              <a:t>Random Forest</a:t>
            </a:r>
            <a:r>
              <a:t> performed the best</a:t>
            </a:r>
            <a:r>
              <a:t> with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98% accuracy</a:t>
            </a:r>
            <a:r>
              <a:t>. It correctly identified almost all patients with and without heart disease.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Its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ROC-AUC </a:t>
            </a:r>
            <a:r>
              <a:t>score was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 0.996</a:t>
            </a:r>
            <a:r>
              <a:t>, which means the model is extremely good at separating the two classes</a:t>
            </a:r>
          </a:p>
          <a:p>
            <a:pPr marL="438911" indent="-438911" defTabSz="341375">
              <a:spcBef>
                <a:spcPts val="4500"/>
              </a:spcBef>
              <a:defRPr b="1" sz="3839">
                <a:latin typeface="Graphik"/>
                <a:ea typeface="Graphik"/>
                <a:cs typeface="Graphik"/>
                <a:sym typeface="Graphik"/>
              </a:defRPr>
            </a:pPr>
            <a:r>
              <a:t>Logistic Regression </a:t>
            </a:r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gave </a:t>
            </a:r>
            <a:r>
              <a:t>84%</a:t>
            </a:r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 accuracy, which is good but not as high as Random Forest.</a:t>
            </a:r>
            <a:endParaRPr b="0">
              <a:latin typeface="Graphik Light"/>
              <a:ea typeface="Graphik Light"/>
              <a:cs typeface="Graphik Light"/>
              <a:sym typeface="Graphik Light"/>
            </a:endParaRP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Its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ROC-AUC</a:t>
            </a:r>
            <a:r>
              <a:t> score was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0.93</a:t>
            </a:r>
            <a:r>
              <a:t>, meaning it still performed well but was less powerful compared to Random Forest.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sults : Logistic regres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Results : Logistic regression</a:t>
            </a:r>
          </a:p>
        </p:txBody>
      </p:sp>
      <p:pic>
        <p:nvPicPr>
          <p:cNvPr id="196" name="Screenshot 2025-11-18 at 6.01.01 PM.png" descr="Screenshot 2025-11-18 at 6.01.0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29621" y="3449192"/>
            <a:ext cx="7411390" cy="7528236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he curve is close to the top-left corner, which means:…"/>
          <p:cNvSpPr txBox="1"/>
          <p:nvPr/>
        </p:nvSpPr>
        <p:spPr>
          <a:xfrm>
            <a:off x="10944320" y="4190710"/>
            <a:ext cx="11930099" cy="604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just" defTabSz="457200">
              <a:spcBef>
                <a:spcPts val="12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The curve is </a:t>
            </a:r>
            <a:r>
              <a:t>close to the top-left corner</a:t>
            </a:r>
            <a:r>
              <a:rPr b="0"/>
              <a:t>, which means:</a:t>
            </a:r>
            <a:endParaRPr b="0"/>
          </a:p>
          <a:p>
            <a:pPr marL="457200" indent="-317500" algn="just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High True Positive Rate</a:t>
            </a:r>
            <a:r>
              <a:t> (it catches most positive cases)</a:t>
            </a:r>
          </a:p>
          <a:p>
            <a:pPr marL="457200" indent="-317500" algn="just" defTabSz="457200">
              <a:spcBef>
                <a:spcPts val="1200"/>
              </a:spcBef>
              <a:buSzPct val="100000"/>
              <a:buFont typeface="Times Roman"/>
              <a:buChar char="•"/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Low False Positive Rate</a:t>
            </a:r>
            <a:r>
              <a:t> (it makes few wrong predictions)</a:t>
            </a:r>
          </a:p>
          <a:p>
            <a:pPr algn="just" defTabSz="457200">
              <a:spcBef>
                <a:spcPts val="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Logistic regression model is </a:t>
            </a:r>
            <a:r>
              <a:rPr b="1"/>
              <a:t>very strong and reliable</a:t>
            </a:r>
            <a:r>
              <a:t>.</a:t>
            </a:r>
          </a:p>
          <a:p>
            <a:pPr algn="just" defTabSz="457200">
              <a:spcBef>
                <a:spcPts val="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can correctly detect heart disease cases most of the time, and it does not make many mistakes.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andom fores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Random forest</a:t>
            </a:r>
          </a:p>
        </p:txBody>
      </p:sp>
      <p:sp>
        <p:nvSpPr>
          <p:cNvPr id="200" name="AUC = 1.00, which is the perfect score.…"/>
          <p:cNvSpPr txBox="1"/>
          <p:nvPr>
            <p:ph type="body" sz="half" idx="1"/>
          </p:nvPr>
        </p:nvSpPr>
        <p:spPr>
          <a:xfrm>
            <a:off x="12120432" y="3563239"/>
            <a:ext cx="10999963" cy="8256012"/>
          </a:xfrm>
          <a:prstGeom prst="rect">
            <a:avLst/>
          </a:prstGeom>
        </p:spPr>
        <p:txBody>
          <a:bodyPr/>
          <a:lstStyle/>
          <a:p>
            <a:pPr marL="0" indent="0" algn="just" defTabSz="457200">
              <a:spcBef>
                <a:spcPts val="0"/>
              </a:spcBef>
              <a:buSzTx/>
              <a:buNone/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AUC = 1.00, which is the perfect score. </a:t>
            </a:r>
          </a:p>
          <a:p>
            <a:pPr marL="0" indent="0" algn="just" defTabSz="457200">
              <a:spcBef>
                <a:spcPts val="0"/>
              </a:spcBef>
              <a:buSzTx/>
              <a:buNone/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algn="just" defTabSz="457200">
              <a:spcBef>
                <a:spcPts val="0"/>
              </a:spcBef>
              <a:buSzTx/>
              <a:buNone/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The ROC curve is touching the top-left corner, which means:100% True Positive Rate , 0% False Positive Rate</a:t>
            </a:r>
            <a:endParaRPr b="0"/>
          </a:p>
          <a:p>
            <a:pPr marL="0" indent="0" algn="just" defTabSz="457200">
              <a:spcBef>
                <a:spcPts val="0"/>
              </a:spcBef>
              <a:buSzTx/>
              <a:buNone/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</p:txBody>
      </p:sp>
      <p:pic>
        <p:nvPicPr>
          <p:cNvPr id="201" name="Screenshot 2025-11-18 at 6.01.16 PM.png" descr="Screenshot 2025-11-18 at 6.01.16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37972" y="2975400"/>
            <a:ext cx="8855906" cy="89547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omparis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Comparison</a:t>
            </a:r>
          </a:p>
        </p:txBody>
      </p:sp>
      <p:sp>
        <p:nvSpPr>
          <p:cNvPr id="204" name="Random Forest is better because it has a higher AUC score.It can separate positive and negative cases more accurately.…"/>
          <p:cNvSpPr txBox="1"/>
          <p:nvPr>
            <p:ph type="body" sz="half" idx="1"/>
          </p:nvPr>
        </p:nvSpPr>
        <p:spPr>
          <a:xfrm>
            <a:off x="10437996" y="4248504"/>
            <a:ext cx="12739505" cy="8256012"/>
          </a:xfrm>
          <a:prstGeom prst="rect">
            <a:avLst/>
          </a:prstGeom>
        </p:spPr>
        <p:txBody>
          <a:bodyPr/>
          <a:lstStyle/>
          <a:p>
            <a:pPr/>
            <a:r>
              <a:t>Random Forest is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better</a:t>
            </a:r>
            <a:r>
              <a:t> because it has a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higher AUC score</a:t>
            </a:r>
            <a:r>
              <a:t>.</a:t>
            </a:r>
            <a:r>
              <a:t>It can </a:t>
            </a:r>
            <a:r>
              <a:t>separate positive and negative cases more accurately</a:t>
            </a:r>
            <a:r>
              <a:t>.</a:t>
            </a:r>
          </a:p>
          <a:p>
            <a:pPr/>
            <a:r>
              <a:t>Logistic Regression is good, but Random Forest is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almost perfect</a:t>
            </a:r>
            <a:r>
              <a:t>.</a:t>
            </a:r>
          </a:p>
          <a:p>
            <a:pPr/>
            <a:r>
              <a:t>Choose Random Forest</a:t>
            </a:r>
            <a:r>
              <a:t> for prediction.</a:t>
            </a:r>
            <a:r>
              <a:t>It gives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better performance</a:t>
            </a:r>
            <a:r>
              <a:t>, higher accuracy, and stronger classification.</a:t>
            </a:r>
          </a:p>
        </p:txBody>
      </p:sp>
      <p:pic>
        <p:nvPicPr>
          <p:cNvPr id="205" name="Screenshot 2025-11-18 at 6.22.22 PM.png" descr="Screenshot 2025-11-18 at 6.22.2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461" y="4563469"/>
            <a:ext cx="9482938" cy="65922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hallenges"/>
          <p:cNvSpPr txBox="1"/>
          <p:nvPr>
            <p:ph type="title"/>
          </p:nvPr>
        </p:nvSpPr>
        <p:spPr>
          <a:xfrm>
            <a:off x="1206500" y="876108"/>
            <a:ext cx="21971000" cy="1689101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Challenges</a:t>
            </a:r>
          </a:p>
        </p:txBody>
      </p:sp>
      <p:sp>
        <p:nvSpPr>
          <p:cNvPr id="208" name="Faced installation errors while importing XGBoost and LightGBM, which made it difficult to use them.…"/>
          <p:cNvSpPr txBox="1"/>
          <p:nvPr>
            <p:ph type="body" sz="half" idx="1"/>
          </p:nvPr>
        </p:nvSpPr>
        <p:spPr>
          <a:xfrm>
            <a:off x="1206500" y="4248504"/>
            <a:ext cx="21971000" cy="4312991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0"/>
              </a:spcBef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Faced installation errors while importing XGBoost and LightGBM, which made it difficult to use them.</a:t>
            </a:r>
          </a:p>
          <a:p>
            <a:pPr>
              <a:spcBef>
                <a:spcPts val="0"/>
              </a:spcBef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Because of these issues, I decided to stick to Logistic Regression and Random Forest.</a:t>
            </a:r>
          </a:p>
          <a:p>
            <a:pPr>
              <a:spcBef>
                <a:spcPts val="0"/>
              </a:spcBef>
              <a:defRPr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These two models were easier to run and still gave very good accuracy, so they were suitable for the project.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Learning &amp; Next Step"/>
          <p:cNvSpPr txBox="1"/>
          <p:nvPr>
            <p:ph type="title"/>
          </p:nvPr>
        </p:nvSpPr>
        <p:spPr>
          <a:xfrm>
            <a:off x="1206500" y="1036847"/>
            <a:ext cx="21971000" cy="1689101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Learning &amp; Next Step</a:t>
            </a:r>
          </a:p>
        </p:txBody>
      </p:sp>
      <p:sp>
        <p:nvSpPr>
          <p:cNvPr id="211" name="Learning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309372">
              <a:spcBef>
                <a:spcPts val="0"/>
              </a:spcBef>
              <a:buSzTx/>
              <a:buNone/>
              <a:defRPr b="1" sz="435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Learnings</a:t>
            </a:r>
          </a:p>
          <a:p>
            <a:pPr marL="0" indent="0" defTabSz="309372">
              <a:spcBef>
                <a:spcPts val="0"/>
              </a:spcBef>
              <a:buSzTx/>
              <a:buNone/>
              <a:defRPr b="1" sz="348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marL="0" indent="0" defTabSz="309372">
              <a:spcBef>
                <a:spcPts val="0"/>
              </a:spcBef>
              <a:buSzTx/>
              <a:buNone/>
              <a:defRPr sz="348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Label Encoding and Scaling can change model performance.</a:t>
            </a:r>
          </a:p>
          <a:p>
            <a:pPr marL="0" indent="0" defTabSz="309372">
              <a:spcBef>
                <a:spcPts val="0"/>
              </a:spcBef>
              <a:buSzTx/>
              <a:buNone/>
              <a:defRPr sz="348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Tree-based models like Random Forest work very well for structured data.</a:t>
            </a:r>
          </a:p>
          <a:p>
            <a:pPr marL="243077" indent="0" defTabSz="309372">
              <a:spcBef>
                <a:spcPts val="0"/>
              </a:spcBef>
              <a:buSzTx/>
              <a:buNone/>
              <a:defRPr sz="348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Metrics like ROC-AUC and F1 give a clearer picture than accuracy.</a:t>
            </a:r>
          </a:p>
          <a:p>
            <a:pPr marL="243077" indent="0" defTabSz="309372">
              <a:spcBef>
                <a:spcPts val="0"/>
              </a:spcBef>
              <a:buSzTx/>
              <a:buNone/>
              <a:defRPr sz="348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marL="0" indent="0" defTabSz="309372">
              <a:spcBef>
                <a:spcPts val="0"/>
              </a:spcBef>
              <a:buSzTx/>
              <a:buNone/>
              <a:defRPr b="1" sz="435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Future Improvements</a:t>
            </a:r>
          </a:p>
          <a:p>
            <a:pPr marL="0" indent="0" defTabSz="309372">
              <a:spcBef>
                <a:spcPts val="0"/>
              </a:spcBef>
              <a:buSzTx/>
              <a:buNone/>
              <a:defRPr b="1" sz="3480">
                <a:latin typeface="Helvetica Neue"/>
                <a:ea typeface="Helvetica Neue"/>
                <a:cs typeface="Helvetica Neue"/>
                <a:sym typeface="Helvetica Neue"/>
              </a:defRPr>
            </a:pPr>
            <a:endParaRPr b="0"/>
          </a:p>
          <a:p>
            <a:pPr marL="0" indent="0" defTabSz="309372">
              <a:spcBef>
                <a:spcPts val="0"/>
              </a:spcBef>
              <a:buSzTx/>
              <a:buNone/>
              <a:defRPr sz="348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hyperparameter tuning for better performance.</a:t>
            </a:r>
          </a:p>
          <a:p>
            <a:pPr marL="0" indent="0" defTabSz="309372">
              <a:spcBef>
                <a:spcPts val="0"/>
              </a:spcBef>
              <a:buSzTx/>
              <a:buNone/>
              <a:defRPr sz="348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Use cross-validation for more stable results.</a:t>
            </a:r>
          </a:p>
          <a:p>
            <a:pPr marL="0" indent="0" defTabSz="309372">
              <a:spcBef>
                <a:spcPts val="0"/>
              </a:spcBef>
              <a:buSzTx/>
              <a:buNone/>
              <a:defRPr sz="348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	•	Experiment with models like XGBoost, LGBM and CatBoost.</a:t>
            </a:r>
          </a:p>
          <a:p>
            <a:pPr marL="243077" indent="0" defTabSz="309372">
              <a:spcBef>
                <a:spcPts val="0"/>
              </a:spcBef>
              <a:buSzTx/>
              <a:buNone/>
              <a:defRPr sz="348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marL="243077" indent="0" defTabSz="309372">
              <a:spcBef>
                <a:spcPts val="0"/>
              </a:spcBef>
              <a:buSzTx/>
              <a:buNone/>
              <a:defRPr sz="348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marL="243077" indent="0" defTabSz="309372">
              <a:spcBef>
                <a:spcPts val="0"/>
              </a:spcBef>
              <a:buSzTx/>
              <a:buNone/>
              <a:defRPr sz="3480">
                <a:latin typeface="Helvetica Neue"/>
                <a:ea typeface="Helvetica Neue"/>
                <a:cs typeface="Helvetica Neue"/>
                <a:sym typeface="Helvetica Neue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